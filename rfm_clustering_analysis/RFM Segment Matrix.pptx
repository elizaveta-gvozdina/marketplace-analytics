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17373600" cy="11887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6C6C"/>
    <a:srgbClr val="797979"/>
    <a:srgbClr val="C0B3DE"/>
    <a:srgbClr val="B0F287"/>
    <a:srgbClr val="62E610"/>
    <a:srgbClr val="FFF157"/>
    <a:srgbClr val="4124D4"/>
    <a:srgbClr val="26DEC8"/>
    <a:srgbClr val="15732F"/>
    <a:srgbClr val="8167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47" autoAdjust="0"/>
  </p:normalViewPr>
  <p:slideViewPr>
    <p:cSldViewPr snapToGrid="0">
      <p:cViewPr varScale="1">
        <p:scale>
          <a:sx n="62" d="100"/>
          <a:sy n="62" d="100"/>
        </p:scale>
        <p:origin x="147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70EE5B-8A7E-46AD-8C68-57B6847A888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73163" y="1143000"/>
            <a:ext cx="4511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686C3E-6AD6-4483-AC93-B6D7C5CAD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294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04448" rtl="0" eaLnBrk="1" latinLnBrk="0" hangingPunct="1">
      <a:defRPr sz="1844" kern="1200">
        <a:solidFill>
          <a:schemeClr val="tx1"/>
        </a:solidFill>
        <a:latin typeface="+mn-lt"/>
        <a:ea typeface="+mn-ea"/>
        <a:cs typeface="+mn-cs"/>
      </a:defRPr>
    </a:lvl1pPr>
    <a:lvl2pPr marL="702225" algn="l" defTabSz="1404448" rtl="0" eaLnBrk="1" latinLnBrk="0" hangingPunct="1">
      <a:defRPr sz="1844" kern="1200">
        <a:solidFill>
          <a:schemeClr val="tx1"/>
        </a:solidFill>
        <a:latin typeface="+mn-lt"/>
        <a:ea typeface="+mn-ea"/>
        <a:cs typeface="+mn-cs"/>
      </a:defRPr>
    </a:lvl2pPr>
    <a:lvl3pPr marL="1404448" algn="l" defTabSz="1404448" rtl="0" eaLnBrk="1" latinLnBrk="0" hangingPunct="1">
      <a:defRPr sz="1844" kern="1200">
        <a:solidFill>
          <a:schemeClr val="tx1"/>
        </a:solidFill>
        <a:latin typeface="+mn-lt"/>
        <a:ea typeface="+mn-ea"/>
        <a:cs typeface="+mn-cs"/>
      </a:defRPr>
    </a:lvl3pPr>
    <a:lvl4pPr marL="2106672" algn="l" defTabSz="1404448" rtl="0" eaLnBrk="1" latinLnBrk="0" hangingPunct="1">
      <a:defRPr sz="1844" kern="1200">
        <a:solidFill>
          <a:schemeClr val="tx1"/>
        </a:solidFill>
        <a:latin typeface="+mn-lt"/>
        <a:ea typeface="+mn-ea"/>
        <a:cs typeface="+mn-cs"/>
      </a:defRPr>
    </a:lvl4pPr>
    <a:lvl5pPr marL="2808897" algn="l" defTabSz="1404448" rtl="0" eaLnBrk="1" latinLnBrk="0" hangingPunct="1">
      <a:defRPr sz="1844" kern="1200">
        <a:solidFill>
          <a:schemeClr val="tx1"/>
        </a:solidFill>
        <a:latin typeface="+mn-lt"/>
        <a:ea typeface="+mn-ea"/>
        <a:cs typeface="+mn-cs"/>
      </a:defRPr>
    </a:lvl5pPr>
    <a:lvl6pPr marL="3511121" algn="l" defTabSz="1404448" rtl="0" eaLnBrk="1" latinLnBrk="0" hangingPunct="1">
      <a:defRPr sz="1844" kern="1200">
        <a:solidFill>
          <a:schemeClr val="tx1"/>
        </a:solidFill>
        <a:latin typeface="+mn-lt"/>
        <a:ea typeface="+mn-ea"/>
        <a:cs typeface="+mn-cs"/>
      </a:defRPr>
    </a:lvl6pPr>
    <a:lvl7pPr marL="4213346" algn="l" defTabSz="1404448" rtl="0" eaLnBrk="1" latinLnBrk="0" hangingPunct="1">
      <a:defRPr sz="1844" kern="1200">
        <a:solidFill>
          <a:schemeClr val="tx1"/>
        </a:solidFill>
        <a:latin typeface="+mn-lt"/>
        <a:ea typeface="+mn-ea"/>
        <a:cs typeface="+mn-cs"/>
      </a:defRPr>
    </a:lvl7pPr>
    <a:lvl8pPr marL="4915569" algn="l" defTabSz="1404448" rtl="0" eaLnBrk="1" latinLnBrk="0" hangingPunct="1">
      <a:defRPr sz="1844" kern="1200">
        <a:solidFill>
          <a:schemeClr val="tx1"/>
        </a:solidFill>
        <a:latin typeface="+mn-lt"/>
        <a:ea typeface="+mn-ea"/>
        <a:cs typeface="+mn-cs"/>
      </a:defRPr>
    </a:lvl8pPr>
    <a:lvl9pPr marL="5617794" algn="l" defTabSz="1404448" rtl="0" eaLnBrk="1" latinLnBrk="0" hangingPunct="1">
      <a:defRPr sz="184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86C3E-6AD6-4483-AC93-B6D7C5CAD0A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030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3020" y="1945429"/>
            <a:ext cx="14767560" cy="4138507"/>
          </a:xfrm>
        </p:spPr>
        <p:txBody>
          <a:bodyPr anchor="b"/>
          <a:lstStyle>
            <a:lvl1pPr algn="ctr">
              <a:defRPr sz="10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1700" y="6243533"/>
            <a:ext cx="13030200" cy="2869987"/>
          </a:xfrm>
        </p:spPr>
        <p:txBody>
          <a:bodyPr/>
          <a:lstStyle>
            <a:lvl1pPr marL="0" indent="0" algn="ctr">
              <a:buNone/>
              <a:defRPr sz="4160"/>
            </a:lvl1pPr>
            <a:lvl2pPr marL="792465" indent="0" algn="ctr">
              <a:buNone/>
              <a:defRPr sz="3467"/>
            </a:lvl2pPr>
            <a:lvl3pPr marL="1584930" indent="0" algn="ctr">
              <a:buNone/>
              <a:defRPr sz="3120"/>
            </a:lvl3pPr>
            <a:lvl4pPr marL="2377394" indent="0" algn="ctr">
              <a:buNone/>
              <a:defRPr sz="2773"/>
            </a:lvl4pPr>
            <a:lvl5pPr marL="3169859" indent="0" algn="ctr">
              <a:buNone/>
              <a:defRPr sz="2773"/>
            </a:lvl5pPr>
            <a:lvl6pPr marL="3962324" indent="0" algn="ctr">
              <a:buNone/>
              <a:defRPr sz="2773"/>
            </a:lvl6pPr>
            <a:lvl7pPr marL="4754789" indent="0" algn="ctr">
              <a:buNone/>
              <a:defRPr sz="2773"/>
            </a:lvl7pPr>
            <a:lvl8pPr marL="5547253" indent="0" algn="ctr">
              <a:buNone/>
              <a:defRPr sz="2773"/>
            </a:lvl8pPr>
            <a:lvl9pPr marL="6339718" indent="0" algn="ctr">
              <a:buNone/>
              <a:defRPr sz="2773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A6AD-A825-4AD8-AEF3-304F8D7CE4C2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F1B7-2209-4996-BF3F-C4BAD5F141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47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A6AD-A825-4AD8-AEF3-304F8D7CE4C2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F1B7-2209-4996-BF3F-C4BAD5F141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066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5387" y="2963549"/>
            <a:ext cx="14984730" cy="4944744"/>
          </a:xfrm>
        </p:spPr>
        <p:txBody>
          <a:bodyPr anchor="b"/>
          <a:lstStyle>
            <a:lvl1pPr>
              <a:defRPr sz="10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5387" y="7955072"/>
            <a:ext cx="14984730" cy="2600324"/>
          </a:xfrm>
        </p:spPr>
        <p:txBody>
          <a:bodyPr/>
          <a:lstStyle>
            <a:lvl1pPr marL="0" indent="0">
              <a:buNone/>
              <a:defRPr sz="4160">
                <a:solidFill>
                  <a:schemeClr val="tx1">
                    <a:tint val="82000"/>
                  </a:schemeClr>
                </a:solidFill>
              </a:defRPr>
            </a:lvl1pPr>
            <a:lvl2pPr marL="792465" indent="0">
              <a:buNone/>
              <a:defRPr sz="3467">
                <a:solidFill>
                  <a:schemeClr val="tx1">
                    <a:tint val="82000"/>
                  </a:schemeClr>
                </a:solidFill>
              </a:defRPr>
            </a:lvl2pPr>
            <a:lvl3pPr marL="1584930" indent="0">
              <a:buNone/>
              <a:defRPr sz="3120">
                <a:solidFill>
                  <a:schemeClr val="tx1">
                    <a:tint val="82000"/>
                  </a:schemeClr>
                </a:solidFill>
              </a:defRPr>
            </a:lvl3pPr>
            <a:lvl4pPr marL="2377394" indent="0">
              <a:buNone/>
              <a:defRPr sz="2773">
                <a:solidFill>
                  <a:schemeClr val="tx1">
                    <a:tint val="82000"/>
                  </a:schemeClr>
                </a:solidFill>
              </a:defRPr>
            </a:lvl4pPr>
            <a:lvl5pPr marL="3169859" indent="0">
              <a:buNone/>
              <a:defRPr sz="2773">
                <a:solidFill>
                  <a:schemeClr val="tx1">
                    <a:tint val="82000"/>
                  </a:schemeClr>
                </a:solidFill>
              </a:defRPr>
            </a:lvl5pPr>
            <a:lvl6pPr marL="3962324" indent="0">
              <a:buNone/>
              <a:defRPr sz="2773">
                <a:solidFill>
                  <a:schemeClr val="tx1">
                    <a:tint val="82000"/>
                  </a:schemeClr>
                </a:solidFill>
              </a:defRPr>
            </a:lvl6pPr>
            <a:lvl7pPr marL="4754789" indent="0">
              <a:buNone/>
              <a:defRPr sz="2773">
                <a:solidFill>
                  <a:schemeClr val="tx1">
                    <a:tint val="82000"/>
                  </a:schemeClr>
                </a:solidFill>
              </a:defRPr>
            </a:lvl7pPr>
            <a:lvl8pPr marL="5547253" indent="0">
              <a:buNone/>
              <a:defRPr sz="2773">
                <a:solidFill>
                  <a:schemeClr val="tx1">
                    <a:tint val="82000"/>
                  </a:schemeClr>
                </a:solidFill>
              </a:defRPr>
            </a:lvl8pPr>
            <a:lvl9pPr marL="6339718" indent="0">
              <a:buNone/>
              <a:defRPr sz="277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A6AD-A825-4AD8-AEF3-304F8D7CE4C2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F1B7-2209-4996-BF3F-C4BAD5F141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290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94435" y="3164417"/>
            <a:ext cx="7383780" cy="75423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95385" y="3164417"/>
            <a:ext cx="7383780" cy="75423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A6AD-A825-4AD8-AEF3-304F8D7CE4C2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F1B7-2209-4996-BF3F-C4BAD5F141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071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698" y="632886"/>
            <a:ext cx="14984730" cy="229764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6700" y="2914016"/>
            <a:ext cx="7349846" cy="1428114"/>
          </a:xfrm>
        </p:spPr>
        <p:txBody>
          <a:bodyPr anchor="b"/>
          <a:lstStyle>
            <a:lvl1pPr marL="0" indent="0">
              <a:buNone/>
              <a:defRPr sz="4160" b="1"/>
            </a:lvl1pPr>
            <a:lvl2pPr marL="792465" indent="0">
              <a:buNone/>
              <a:defRPr sz="3467" b="1"/>
            </a:lvl2pPr>
            <a:lvl3pPr marL="1584930" indent="0">
              <a:buNone/>
              <a:defRPr sz="3120" b="1"/>
            </a:lvl3pPr>
            <a:lvl4pPr marL="2377394" indent="0">
              <a:buNone/>
              <a:defRPr sz="2773" b="1"/>
            </a:lvl4pPr>
            <a:lvl5pPr marL="3169859" indent="0">
              <a:buNone/>
              <a:defRPr sz="2773" b="1"/>
            </a:lvl5pPr>
            <a:lvl6pPr marL="3962324" indent="0">
              <a:buNone/>
              <a:defRPr sz="2773" b="1"/>
            </a:lvl6pPr>
            <a:lvl7pPr marL="4754789" indent="0">
              <a:buNone/>
              <a:defRPr sz="2773" b="1"/>
            </a:lvl7pPr>
            <a:lvl8pPr marL="5547253" indent="0">
              <a:buNone/>
              <a:defRPr sz="2773" b="1"/>
            </a:lvl8pPr>
            <a:lvl9pPr marL="6339718" indent="0">
              <a:buNone/>
              <a:defRPr sz="277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6700" y="4342130"/>
            <a:ext cx="7349846" cy="63866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95386" y="2914016"/>
            <a:ext cx="7386043" cy="1428114"/>
          </a:xfrm>
        </p:spPr>
        <p:txBody>
          <a:bodyPr anchor="b"/>
          <a:lstStyle>
            <a:lvl1pPr marL="0" indent="0">
              <a:buNone/>
              <a:defRPr sz="4160" b="1"/>
            </a:lvl1pPr>
            <a:lvl2pPr marL="792465" indent="0">
              <a:buNone/>
              <a:defRPr sz="3467" b="1"/>
            </a:lvl2pPr>
            <a:lvl3pPr marL="1584930" indent="0">
              <a:buNone/>
              <a:defRPr sz="3120" b="1"/>
            </a:lvl3pPr>
            <a:lvl4pPr marL="2377394" indent="0">
              <a:buNone/>
              <a:defRPr sz="2773" b="1"/>
            </a:lvl4pPr>
            <a:lvl5pPr marL="3169859" indent="0">
              <a:buNone/>
              <a:defRPr sz="2773" b="1"/>
            </a:lvl5pPr>
            <a:lvl6pPr marL="3962324" indent="0">
              <a:buNone/>
              <a:defRPr sz="2773" b="1"/>
            </a:lvl6pPr>
            <a:lvl7pPr marL="4754789" indent="0">
              <a:buNone/>
              <a:defRPr sz="2773" b="1"/>
            </a:lvl7pPr>
            <a:lvl8pPr marL="5547253" indent="0">
              <a:buNone/>
              <a:defRPr sz="2773" b="1"/>
            </a:lvl8pPr>
            <a:lvl9pPr marL="6339718" indent="0">
              <a:buNone/>
              <a:defRPr sz="277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95386" y="4342130"/>
            <a:ext cx="7386043" cy="63866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A6AD-A825-4AD8-AEF3-304F8D7CE4C2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F1B7-2209-4996-BF3F-C4BAD5F141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940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A6AD-A825-4AD8-AEF3-304F8D7CE4C2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F1B7-2209-4996-BF3F-C4BAD5F141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659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A6AD-A825-4AD8-AEF3-304F8D7CE4C2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F1B7-2209-4996-BF3F-C4BAD5F141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478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698" y="792480"/>
            <a:ext cx="5603438" cy="2773680"/>
          </a:xfrm>
        </p:spPr>
        <p:txBody>
          <a:bodyPr anchor="b"/>
          <a:lstStyle>
            <a:lvl1pPr>
              <a:defRPr sz="554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86043" y="1711539"/>
            <a:ext cx="8795385" cy="8447617"/>
          </a:xfrm>
        </p:spPr>
        <p:txBody>
          <a:bodyPr/>
          <a:lstStyle>
            <a:lvl1pPr>
              <a:defRPr sz="5547"/>
            </a:lvl1pPr>
            <a:lvl2pPr>
              <a:defRPr sz="4853"/>
            </a:lvl2pPr>
            <a:lvl3pPr>
              <a:defRPr sz="4160"/>
            </a:lvl3pPr>
            <a:lvl4pPr>
              <a:defRPr sz="3467"/>
            </a:lvl4pPr>
            <a:lvl5pPr>
              <a:defRPr sz="3467"/>
            </a:lvl5pPr>
            <a:lvl6pPr>
              <a:defRPr sz="3467"/>
            </a:lvl6pPr>
            <a:lvl7pPr>
              <a:defRPr sz="3467"/>
            </a:lvl7pPr>
            <a:lvl8pPr>
              <a:defRPr sz="3467"/>
            </a:lvl8pPr>
            <a:lvl9pPr>
              <a:defRPr sz="3467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6698" y="3566160"/>
            <a:ext cx="5603438" cy="6606753"/>
          </a:xfrm>
        </p:spPr>
        <p:txBody>
          <a:bodyPr/>
          <a:lstStyle>
            <a:lvl1pPr marL="0" indent="0">
              <a:buNone/>
              <a:defRPr sz="2773"/>
            </a:lvl1pPr>
            <a:lvl2pPr marL="792465" indent="0">
              <a:buNone/>
              <a:defRPr sz="2427"/>
            </a:lvl2pPr>
            <a:lvl3pPr marL="1584930" indent="0">
              <a:buNone/>
              <a:defRPr sz="2080"/>
            </a:lvl3pPr>
            <a:lvl4pPr marL="2377394" indent="0">
              <a:buNone/>
              <a:defRPr sz="1733"/>
            </a:lvl4pPr>
            <a:lvl5pPr marL="3169859" indent="0">
              <a:buNone/>
              <a:defRPr sz="1733"/>
            </a:lvl5pPr>
            <a:lvl6pPr marL="3962324" indent="0">
              <a:buNone/>
              <a:defRPr sz="1733"/>
            </a:lvl6pPr>
            <a:lvl7pPr marL="4754789" indent="0">
              <a:buNone/>
              <a:defRPr sz="1733"/>
            </a:lvl7pPr>
            <a:lvl8pPr marL="5547253" indent="0">
              <a:buNone/>
              <a:defRPr sz="1733"/>
            </a:lvl8pPr>
            <a:lvl9pPr marL="6339718" indent="0">
              <a:buNone/>
              <a:defRPr sz="1733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A6AD-A825-4AD8-AEF3-304F8D7CE4C2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F1B7-2209-4996-BF3F-C4BAD5F141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306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698" y="792480"/>
            <a:ext cx="5603438" cy="2773680"/>
          </a:xfrm>
        </p:spPr>
        <p:txBody>
          <a:bodyPr anchor="b"/>
          <a:lstStyle>
            <a:lvl1pPr>
              <a:defRPr sz="554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6043" y="1711539"/>
            <a:ext cx="8795385" cy="8447617"/>
          </a:xfrm>
        </p:spPr>
        <p:txBody>
          <a:bodyPr anchor="t"/>
          <a:lstStyle>
            <a:lvl1pPr marL="0" indent="0">
              <a:buNone/>
              <a:defRPr sz="5547"/>
            </a:lvl1pPr>
            <a:lvl2pPr marL="792465" indent="0">
              <a:buNone/>
              <a:defRPr sz="4853"/>
            </a:lvl2pPr>
            <a:lvl3pPr marL="1584930" indent="0">
              <a:buNone/>
              <a:defRPr sz="4160"/>
            </a:lvl3pPr>
            <a:lvl4pPr marL="2377394" indent="0">
              <a:buNone/>
              <a:defRPr sz="3467"/>
            </a:lvl4pPr>
            <a:lvl5pPr marL="3169859" indent="0">
              <a:buNone/>
              <a:defRPr sz="3467"/>
            </a:lvl5pPr>
            <a:lvl6pPr marL="3962324" indent="0">
              <a:buNone/>
              <a:defRPr sz="3467"/>
            </a:lvl6pPr>
            <a:lvl7pPr marL="4754789" indent="0">
              <a:buNone/>
              <a:defRPr sz="3467"/>
            </a:lvl7pPr>
            <a:lvl8pPr marL="5547253" indent="0">
              <a:buNone/>
              <a:defRPr sz="3467"/>
            </a:lvl8pPr>
            <a:lvl9pPr marL="6339718" indent="0">
              <a:buNone/>
              <a:defRPr sz="3467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6698" y="3566160"/>
            <a:ext cx="5603438" cy="6606753"/>
          </a:xfrm>
        </p:spPr>
        <p:txBody>
          <a:bodyPr/>
          <a:lstStyle>
            <a:lvl1pPr marL="0" indent="0">
              <a:buNone/>
              <a:defRPr sz="2773"/>
            </a:lvl1pPr>
            <a:lvl2pPr marL="792465" indent="0">
              <a:buNone/>
              <a:defRPr sz="2427"/>
            </a:lvl2pPr>
            <a:lvl3pPr marL="1584930" indent="0">
              <a:buNone/>
              <a:defRPr sz="2080"/>
            </a:lvl3pPr>
            <a:lvl4pPr marL="2377394" indent="0">
              <a:buNone/>
              <a:defRPr sz="1733"/>
            </a:lvl4pPr>
            <a:lvl5pPr marL="3169859" indent="0">
              <a:buNone/>
              <a:defRPr sz="1733"/>
            </a:lvl5pPr>
            <a:lvl6pPr marL="3962324" indent="0">
              <a:buNone/>
              <a:defRPr sz="1733"/>
            </a:lvl6pPr>
            <a:lvl7pPr marL="4754789" indent="0">
              <a:buNone/>
              <a:defRPr sz="1733"/>
            </a:lvl7pPr>
            <a:lvl8pPr marL="5547253" indent="0">
              <a:buNone/>
              <a:defRPr sz="1733"/>
            </a:lvl8pPr>
            <a:lvl9pPr marL="6339718" indent="0">
              <a:buNone/>
              <a:defRPr sz="1733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A6AD-A825-4AD8-AEF3-304F8D7CE4C2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F1B7-2209-4996-BF3F-C4BAD5F141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038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A6AD-A825-4AD8-AEF3-304F8D7CE4C2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F1B7-2209-4996-BF3F-C4BAD5F141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737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432983" y="632883"/>
            <a:ext cx="3746183" cy="1007385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94436" y="632883"/>
            <a:ext cx="11021378" cy="1007385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A6AD-A825-4AD8-AEF3-304F8D7CE4C2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F1B7-2209-4996-BF3F-C4BAD5F141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20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4435" y="632886"/>
            <a:ext cx="14984730" cy="2297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4435" y="3164417"/>
            <a:ext cx="14984730" cy="7542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94435" y="11017676"/>
            <a:ext cx="390906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BFA6AD-A825-4AD8-AEF3-304F8D7CE4C2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55005" y="11017676"/>
            <a:ext cx="586359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70105" y="11017676"/>
            <a:ext cx="390906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7FF1B7-2209-4996-BF3F-C4BAD5F141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395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584930" rtl="0" eaLnBrk="1" latinLnBrk="0" hangingPunct="1">
        <a:lnSpc>
          <a:spcPct val="90000"/>
        </a:lnSpc>
        <a:spcBef>
          <a:spcPct val="0"/>
        </a:spcBef>
        <a:buNone/>
        <a:defRPr sz="76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6232" indent="-396232" algn="l" defTabSz="1584930" rtl="0" eaLnBrk="1" latinLnBrk="0" hangingPunct="1">
        <a:lnSpc>
          <a:spcPct val="90000"/>
        </a:lnSpc>
        <a:spcBef>
          <a:spcPts val="1733"/>
        </a:spcBef>
        <a:buFont typeface="Arial" panose="020B0604020202020204" pitchFamily="34" charset="0"/>
        <a:buChar char="•"/>
        <a:defRPr sz="4853" kern="1200">
          <a:solidFill>
            <a:schemeClr val="tx1"/>
          </a:solidFill>
          <a:latin typeface="+mn-lt"/>
          <a:ea typeface="+mn-ea"/>
          <a:cs typeface="+mn-cs"/>
        </a:defRPr>
      </a:lvl1pPr>
      <a:lvl2pPr marL="1188697" indent="-396232" algn="l" defTabSz="158493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4160" kern="1200">
          <a:solidFill>
            <a:schemeClr val="tx1"/>
          </a:solidFill>
          <a:latin typeface="+mn-lt"/>
          <a:ea typeface="+mn-ea"/>
          <a:cs typeface="+mn-cs"/>
        </a:defRPr>
      </a:lvl2pPr>
      <a:lvl3pPr marL="1981162" indent="-396232" algn="l" defTabSz="158493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773627" indent="-396232" algn="l" defTabSz="158493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4pPr>
      <a:lvl5pPr marL="3566091" indent="-396232" algn="l" defTabSz="158493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5pPr>
      <a:lvl6pPr marL="4358556" indent="-396232" algn="l" defTabSz="158493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6pPr>
      <a:lvl7pPr marL="5151021" indent="-396232" algn="l" defTabSz="158493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7pPr>
      <a:lvl8pPr marL="5943486" indent="-396232" algn="l" defTabSz="158493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8pPr>
      <a:lvl9pPr marL="6735950" indent="-396232" algn="l" defTabSz="158493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84930" rtl="0" eaLnBrk="1" latinLnBrk="0" hangingPunct="1">
        <a:defRPr sz="3120" kern="1200">
          <a:solidFill>
            <a:schemeClr val="tx1"/>
          </a:solidFill>
          <a:latin typeface="+mn-lt"/>
          <a:ea typeface="+mn-ea"/>
          <a:cs typeface="+mn-cs"/>
        </a:defRPr>
      </a:lvl1pPr>
      <a:lvl2pPr marL="792465" algn="l" defTabSz="1584930" rtl="0" eaLnBrk="1" latinLnBrk="0" hangingPunct="1"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584930" algn="l" defTabSz="1584930" rtl="0" eaLnBrk="1" latinLnBrk="0" hangingPunct="1">
        <a:defRPr sz="3120" kern="1200">
          <a:solidFill>
            <a:schemeClr val="tx1"/>
          </a:solidFill>
          <a:latin typeface="+mn-lt"/>
          <a:ea typeface="+mn-ea"/>
          <a:cs typeface="+mn-cs"/>
        </a:defRPr>
      </a:lvl3pPr>
      <a:lvl4pPr marL="2377394" algn="l" defTabSz="1584930" rtl="0" eaLnBrk="1" latinLnBrk="0" hangingPunct="1">
        <a:defRPr sz="3120" kern="1200">
          <a:solidFill>
            <a:schemeClr val="tx1"/>
          </a:solidFill>
          <a:latin typeface="+mn-lt"/>
          <a:ea typeface="+mn-ea"/>
          <a:cs typeface="+mn-cs"/>
        </a:defRPr>
      </a:lvl4pPr>
      <a:lvl5pPr marL="3169859" algn="l" defTabSz="1584930" rtl="0" eaLnBrk="1" latinLnBrk="0" hangingPunct="1">
        <a:defRPr sz="3120" kern="1200">
          <a:solidFill>
            <a:schemeClr val="tx1"/>
          </a:solidFill>
          <a:latin typeface="+mn-lt"/>
          <a:ea typeface="+mn-ea"/>
          <a:cs typeface="+mn-cs"/>
        </a:defRPr>
      </a:lvl5pPr>
      <a:lvl6pPr marL="3962324" algn="l" defTabSz="1584930" rtl="0" eaLnBrk="1" latinLnBrk="0" hangingPunct="1">
        <a:defRPr sz="3120" kern="1200">
          <a:solidFill>
            <a:schemeClr val="tx1"/>
          </a:solidFill>
          <a:latin typeface="+mn-lt"/>
          <a:ea typeface="+mn-ea"/>
          <a:cs typeface="+mn-cs"/>
        </a:defRPr>
      </a:lvl6pPr>
      <a:lvl7pPr marL="4754789" algn="l" defTabSz="1584930" rtl="0" eaLnBrk="1" latinLnBrk="0" hangingPunct="1">
        <a:defRPr sz="3120" kern="1200">
          <a:solidFill>
            <a:schemeClr val="tx1"/>
          </a:solidFill>
          <a:latin typeface="+mn-lt"/>
          <a:ea typeface="+mn-ea"/>
          <a:cs typeface="+mn-cs"/>
        </a:defRPr>
      </a:lvl7pPr>
      <a:lvl8pPr marL="5547253" algn="l" defTabSz="1584930" rtl="0" eaLnBrk="1" latinLnBrk="0" hangingPunct="1">
        <a:defRPr sz="3120" kern="1200">
          <a:solidFill>
            <a:schemeClr val="tx1"/>
          </a:solidFill>
          <a:latin typeface="+mn-lt"/>
          <a:ea typeface="+mn-ea"/>
          <a:cs typeface="+mn-cs"/>
        </a:defRPr>
      </a:lvl8pPr>
      <a:lvl9pPr marL="6339718" algn="l" defTabSz="1584930" rtl="0" eaLnBrk="1" latinLnBrk="0" hangingPunct="1">
        <a:defRPr sz="31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6CB86E-4F0D-B976-B1B7-31DAA857F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36191" y="124336"/>
            <a:ext cx="13236313" cy="537519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bg2">
                    <a:lumMod val="25000"/>
                  </a:schemeClr>
                </a:solidFill>
              </a:rPr>
              <a:t>RFM Segment Matrix:</a:t>
            </a:r>
            <a:r>
              <a:rPr lang="ru-RU" sz="28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</a:rPr>
              <a:t>   </a:t>
            </a:r>
            <a:r>
              <a:rPr lang="en-US" sz="2800" dirty="0">
                <a:solidFill>
                  <a:schemeClr val="bg2">
                    <a:lumMod val="25000"/>
                  </a:schemeClr>
                </a:solidFill>
              </a:rPr>
              <a:t>Strategy for Targeted Re-engagement &amp; Churn Prevention 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D39961AD-5E50-72F1-8A65-49C4754240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224933"/>
              </p:ext>
            </p:extLst>
          </p:nvPr>
        </p:nvGraphicFramePr>
        <p:xfrm>
          <a:off x="185980" y="755363"/>
          <a:ext cx="16951780" cy="10290951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20874">
                  <a:extLst>
                    <a:ext uri="{9D8B030D-6E8A-4147-A177-3AD203B41FA5}">
                      <a16:colId xmlns:a16="http://schemas.microsoft.com/office/drawing/2014/main" val="3559385106"/>
                    </a:ext>
                  </a:extLst>
                </a:gridCol>
                <a:gridCol w="991329">
                  <a:extLst>
                    <a:ext uri="{9D8B030D-6E8A-4147-A177-3AD203B41FA5}">
                      <a16:colId xmlns:a16="http://schemas.microsoft.com/office/drawing/2014/main" val="2534038034"/>
                    </a:ext>
                  </a:extLst>
                </a:gridCol>
                <a:gridCol w="2202071">
                  <a:extLst>
                    <a:ext uri="{9D8B030D-6E8A-4147-A177-3AD203B41FA5}">
                      <a16:colId xmlns:a16="http://schemas.microsoft.com/office/drawing/2014/main" val="2318174802"/>
                    </a:ext>
                  </a:extLst>
                </a:gridCol>
                <a:gridCol w="2853454">
                  <a:extLst>
                    <a:ext uri="{9D8B030D-6E8A-4147-A177-3AD203B41FA5}">
                      <a16:colId xmlns:a16="http://schemas.microsoft.com/office/drawing/2014/main" val="3579181587"/>
                    </a:ext>
                  </a:extLst>
                </a:gridCol>
                <a:gridCol w="2597131">
                  <a:extLst>
                    <a:ext uri="{9D8B030D-6E8A-4147-A177-3AD203B41FA5}">
                      <a16:colId xmlns:a16="http://schemas.microsoft.com/office/drawing/2014/main" val="2179060809"/>
                    </a:ext>
                  </a:extLst>
                </a:gridCol>
                <a:gridCol w="2045689">
                  <a:extLst>
                    <a:ext uri="{9D8B030D-6E8A-4147-A177-3AD203B41FA5}">
                      <a16:colId xmlns:a16="http://schemas.microsoft.com/office/drawing/2014/main" val="2711892956"/>
                    </a:ext>
                  </a:extLst>
                </a:gridCol>
                <a:gridCol w="2947727">
                  <a:extLst>
                    <a:ext uri="{9D8B030D-6E8A-4147-A177-3AD203B41FA5}">
                      <a16:colId xmlns:a16="http://schemas.microsoft.com/office/drawing/2014/main" val="3534078744"/>
                    </a:ext>
                  </a:extLst>
                </a:gridCol>
                <a:gridCol w="1593505">
                  <a:extLst>
                    <a:ext uri="{9D8B030D-6E8A-4147-A177-3AD203B41FA5}">
                      <a16:colId xmlns:a16="http://schemas.microsoft.com/office/drawing/2014/main" val="959397986"/>
                    </a:ext>
                  </a:extLst>
                </a:gridCol>
              </a:tblGrid>
              <a:tr h="830421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Segment</a:t>
                      </a:r>
                    </a:p>
                  </a:txBody>
                  <a:tcPr marL="130302" marR="130302" marT="65151" marB="65151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5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Count (% of Total)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5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Strategic Objective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Quick wins</a:t>
                      </a:r>
                      <a:r>
                        <a:rPr lang="ru-RU" sz="1500" b="1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i="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system-ui"/>
                        </a:rPr>
                        <a:t>(1–3 weeks):</a:t>
                      </a:r>
                      <a:endParaRPr lang="en-US" sz="1500" b="1" i="0" kern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Mid-term</a:t>
                      </a:r>
                      <a:r>
                        <a:rPr lang="ru-RU" sz="1500" b="1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i="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system-ui"/>
                        </a:rPr>
                        <a:t>(1–3 months):</a:t>
                      </a:r>
                      <a:r>
                        <a:rPr lang="en-US" sz="1600" b="0" i="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1500" b="1" i="0" kern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Long-term</a:t>
                      </a:r>
                      <a:r>
                        <a:rPr lang="en-US" sz="1600" b="1" i="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system-ui"/>
                        </a:rPr>
                        <a:t>(3</a:t>
                      </a:r>
                      <a:r>
                        <a:rPr lang="ru-RU" sz="1600" b="1" i="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system-ui"/>
                        </a:rPr>
                        <a:t>+</a:t>
                      </a:r>
                      <a:r>
                        <a:rPr lang="en-US" sz="1600" b="1" i="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system-ui"/>
                        </a:rPr>
                        <a:t> months):</a:t>
                      </a:r>
                      <a:r>
                        <a:rPr lang="en-US" sz="1600" b="0" i="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1500" b="1" i="0" kern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KPIs</a:t>
                      </a:r>
                      <a:r>
                        <a:rPr lang="ru-RU" sz="1500" b="1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 b="1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to monitor 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Priority</a:t>
                      </a:r>
                      <a:endParaRPr lang="en-US" sz="15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776019"/>
                  </a:ext>
                </a:extLst>
              </a:tr>
              <a:tr h="1508784">
                <a:tc>
                  <a:txBody>
                    <a:bodyPr/>
                    <a:lstStyle/>
                    <a:p>
                      <a:pPr marL="91440" lvl="0" algn="l"/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Recent Low Spenders</a:t>
                      </a:r>
                    </a:p>
                  </a:txBody>
                  <a:tcPr marL="130302" marR="130302" marT="65151" marB="6515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5732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27 055 (28.6%)</a:t>
                      </a:r>
                    </a:p>
                    <a:p>
                      <a:pPr algn="ctr"/>
                      <a:endParaRPr lang="en-US" sz="15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Encourage repeat buys, gradually increase AOV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1584930" rtl="0" eaLnBrk="1" latinLnBrk="0" hangingPunct="1">
                        <a:buFont typeface="Courier New" panose="02070309020205020404" pitchFamily="49" charset="0"/>
                        <a:buChar char="o"/>
                      </a:pPr>
                      <a:r>
                        <a:rPr lang="en-US" sz="1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Post-purchase emails with coupon/free shipping</a:t>
                      </a:r>
                      <a:endParaRPr lang="ru-RU" sz="15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Personalized cross-sell/bundle campaigns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Segment by product category for relevance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Test incentives (discounts, free shipping) for repeat purchases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en-US" sz="1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Predictive Propensity: Score customers to uncover potential high-value repeat buyers.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2nd purchase conversion</a:t>
                      </a: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| </a:t>
                      </a:r>
                    </a:p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Revenue per customer</a:t>
                      </a: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|  </a:t>
                      </a:r>
                    </a:p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Cross-sell email conversion rate</a:t>
                      </a:r>
                      <a:endParaRPr lang="en-US" sz="15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293608"/>
                  </a:ext>
                </a:extLst>
              </a:tr>
              <a:tr h="1295644">
                <a:tc>
                  <a:txBody>
                    <a:bodyPr/>
                    <a:lstStyle/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Recent High Spenders</a:t>
                      </a:r>
                    </a:p>
                  </a:txBody>
                  <a:tcPr marL="130302" marR="130302" marT="65151" marB="65151" anchor="ctr">
                    <a:solidFill>
                      <a:srgbClr val="B0F287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25 270 (26.7%)</a:t>
                      </a:r>
                    </a:p>
                    <a:p>
                      <a:pPr algn="ctr"/>
                      <a:endParaRPr lang="en-US" sz="15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Convert to loyal repeat buyers, increase LTV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Loyalty points / early access campaigns</a:t>
                      </a:r>
                    </a:p>
                    <a:p>
                      <a:pPr marL="171450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Value-based offers (bundles, upgrades) over heavy discounts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Encourage reviews &amp; feedback to boost LTV</a:t>
                      </a:r>
                    </a:p>
                    <a:p>
                      <a:pPr marL="171450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Personalized recommendations to increase AOV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en-US" sz="1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Predictive Retention: Identify high-value buyers at risk and implement retention strategies.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Retention rate</a:t>
                      </a: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| </a:t>
                      </a: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Repeat frequency</a:t>
                      </a: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| </a:t>
                      </a: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CLV</a:t>
                      </a: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| </a:t>
                      </a: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Margin per customer</a:t>
                      </a:r>
                      <a:endParaRPr lang="en-US" sz="15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452610"/>
                  </a:ext>
                </a:extLst>
              </a:tr>
              <a:tr h="1508784">
                <a:tc>
                  <a:txBody>
                    <a:bodyPr/>
                    <a:lstStyle/>
                    <a:p>
                      <a:pPr marL="91440" lvl="0" algn="l"/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Loyal Spenders</a:t>
                      </a:r>
                    </a:p>
                  </a:txBody>
                  <a:tcPr marL="130302" marR="130302" marT="65151" marB="65151" anchor="ctr">
                    <a:solidFill>
                      <a:srgbClr val="FFF15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2 834 (3%)</a:t>
                      </a:r>
                    </a:p>
                    <a:p>
                      <a:pPr algn="ctr"/>
                      <a:endParaRPr lang="en-US" sz="15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Maintain engagement, maximize repeat purchases, strengthen loyalty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Exclusive benefits and loyalty tiers</a:t>
                      </a:r>
                      <a:endParaRPr lang="ru-RU" sz="15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Early product access</a:t>
                      </a:r>
                      <a:endParaRPr lang="ru-RU" sz="15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Proactive review requests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Build referral &amp; advocacy programs</a:t>
                      </a:r>
                      <a:endParaRPr lang="ru-RU" sz="15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Monitor satisfaction (NPS), protect margins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en-US" sz="1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Predictive modeling for retention and CLV optimization.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Churn rate (loyal group)</a:t>
                      </a: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| </a:t>
                      </a: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Average orders per period</a:t>
                      </a: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| </a:t>
                      </a: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Referral conversions</a:t>
                      </a: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| </a:t>
                      </a: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CLV</a:t>
                      </a:r>
                      <a:endParaRPr lang="en-US" sz="15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263194"/>
                  </a:ext>
                </a:extLst>
              </a:tr>
              <a:tr h="1738148">
                <a:tc>
                  <a:txBody>
                    <a:bodyPr/>
                    <a:lstStyle/>
                    <a:p>
                      <a:pPr marL="91440" lvl="0" algn="l"/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Inactive Low Spenders</a:t>
                      </a:r>
                    </a:p>
                  </a:txBody>
                  <a:tcPr marL="130302" marR="130302" marT="65151" marB="65151" anchor="ctr">
                    <a:solidFill>
                      <a:srgbClr val="4124D4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22 763 (24.1%)</a:t>
                      </a:r>
                    </a:p>
                    <a:p>
                      <a:pPr algn="ctr"/>
                      <a:endParaRPr lang="en-US" sz="15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Reactivate at low cost, maintain ROI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Low-cost win-back campaigns: remarketing, timed discount codes, reactivation drip via email/SMS.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Test 10% off incentives, measure ROI</a:t>
                      </a:r>
                      <a:endParaRPr lang="ru-RU" sz="15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Shift to low-cost lifecycle campaigns (newsletters, low-frequency)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en-US" sz="1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Predictive Churn Models: Identify customers most likely to lapse or reactivate efficiently.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Reactivation rate</a:t>
                      </a: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| </a:t>
                      </a: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Cost per reactivation</a:t>
                      </a: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| </a:t>
                      </a: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Revenue per customer</a:t>
                      </a:r>
                      <a:endParaRPr lang="en-US" sz="15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5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001893"/>
                  </a:ext>
                </a:extLst>
              </a:tr>
              <a:tr h="1880914">
                <a:tc>
                  <a:txBody>
                    <a:bodyPr/>
                    <a:lstStyle/>
                    <a:p>
                      <a:pPr marL="91440" lvl="0" algn="l"/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Inactive High Spenders</a:t>
                      </a:r>
                    </a:p>
                  </a:txBody>
                  <a:tcPr marL="130302" marR="130302" marT="65151" marB="65151" anchor="ctr">
                    <a:solidFill>
                      <a:srgbClr val="C0B3DE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16 209 (17.1%)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Targeted reactivation to recover high-value revenue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High-touch outreach: personalized email + SMS, time-limited premium offers.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Personal outreach + targeted reactivation offers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Recovery: Exit surveys &amp; A/B test offers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en-US" sz="1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Build predictive models to prevent future lapses among high-value customers.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Reactivation rate</a:t>
                      </a: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| </a:t>
                      </a: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Revenue recovered</a:t>
                      </a: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| </a:t>
                      </a: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Cost per recovered customer</a:t>
                      </a: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| </a:t>
                      </a: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Churn rate</a:t>
                      </a:r>
                      <a:endParaRPr lang="en-US" sz="15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336854"/>
                  </a:ext>
                </a:extLst>
              </a:tr>
              <a:tr h="1528256">
                <a:tc>
                  <a:txBody>
                    <a:bodyPr/>
                    <a:lstStyle/>
                    <a:p>
                      <a:pPr marL="91440" lvl="0" algn="l"/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VIP Spenders</a:t>
                      </a:r>
                    </a:p>
                  </a:txBody>
                  <a:tcPr marL="130302" marR="130302" marT="65151" marB="65151" anchor="ctr">
                    <a:solidFill>
                      <a:srgbClr val="26DEC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474 (0.5%)</a:t>
                      </a:r>
                    </a:p>
                    <a:p>
                      <a:pPr algn="ctr"/>
                      <a:endParaRPr lang="en-US" sz="15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High-touch engagement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Personal outreach and dedicated offers.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5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White-glove service and curated experiences.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defTabSz="1584930" rtl="0" eaLnBrk="1" latinLnBrk="0" hangingPunct="1">
                        <a:buFont typeface="Courier New" panose="02070309020205020404" pitchFamily="49" charset="0"/>
                        <a:buChar char="o"/>
                      </a:pPr>
                      <a:r>
                        <a:rPr lang="en-US" sz="1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Track revenue share, optimize contact frequency</a:t>
                      </a:r>
                      <a:endParaRPr lang="ru-RU" sz="15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Exclude VIPs from mass campaigns to maintain exclusivity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en-US" sz="1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Predictive retention and high-touch personalization to maximize ROI per VIP.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en-US" sz="1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Revenue share | Retention rate | Satisfaction metrics | Margin per customer</a:t>
                      </a: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30302" marR="130302" marT="65151" marB="65151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616991"/>
                  </a:ext>
                </a:extLst>
              </a:tr>
            </a:tbl>
          </a:graphicData>
        </a:graphic>
      </p:graphicFrame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8167D73F-2EAA-790C-DE65-3A0FCE71EF56}"/>
              </a:ext>
            </a:extLst>
          </p:cNvPr>
          <p:cNvSpPr/>
          <p:nvPr/>
        </p:nvSpPr>
        <p:spPr>
          <a:xfrm>
            <a:off x="15754565" y="2147447"/>
            <a:ext cx="1186238" cy="435141"/>
          </a:xfrm>
          <a:prstGeom prst="roundRect">
            <a:avLst/>
          </a:prstGeom>
          <a:solidFill>
            <a:srgbClr val="FFF4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96" dirty="0">
                <a:solidFill>
                  <a:schemeClr val="tx1">
                    <a:lumMod val="85000"/>
                    <a:lumOff val="15000"/>
                  </a:schemeClr>
                </a:solidFill>
                <a:latin typeface="system-ui"/>
              </a:rPr>
              <a:t>Medium</a:t>
            </a:r>
            <a:endParaRPr lang="en-US" sz="171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8BFBD27-2808-BC44-1FD2-9E1A2C96917A}"/>
              </a:ext>
            </a:extLst>
          </p:cNvPr>
          <p:cNvSpPr/>
          <p:nvPr/>
        </p:nvSpPr>
        <p:spPr>
          <a:xfrm>
            <a:off x="15771590" y="9958463"/>
            <a:ext cx="1104987" cy="435140"/>
          </a:xfrm>
          <a:prstGeom prst="roundRect">
            <a:avLst/>
          </a:prstGeom>
          <a:solidFill>
            <a:srgbClr val="26C6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96" dirty="0">
                <a:solidFill>
                  <a:schemeClr val="tx1">
                    <a:lumMod val="75000"/>
                    <a:lumOff val="25000"/>
                  </a:schemeClr>
                </a:solidFill>
                <a:latin typeface="system-ui"/>
              </a:rPr>
              <a:t>Strategic</a:t>
            </a:r>
            <a:endParaRPr lang="en-US" sz="1996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65673A78-B21E-C523-862E-D0AE4DCE40BC}"/>
              </a:ext>
            </a:extLst>
          </p:cNvPr>
          <p:cNvSpPr/>
          <p:nvPr/>
        </p:nvSpPr>
        <p:spPr>
          <a:xfrm>
            <a:off x="15795192" y="3559982"/>
            <a:ext cx="1152192" cy="435141"/>
          </a:xfrm>
          <a:prstGeom prst="roundRect">
            <a:avLst/>
          </a:prstGeom>
          <a:solidFill>
            <a:srgbClr val="FBBC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96" dirty="0">
                <a:solidFill>
                  <a:schemeClr val="tx1">
                    <a:lumMod val="85000"/>
                    <a:lumOff val="15000"/>
                  </a:schemeClr>
                </a:solidFill>
                <a:latin typeface="system-ui"/>
              </a:rPr>
              <a:t>High</a:t>
            </a:r>
            <a:endParaRPr lang="en-US" sz="1996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4BE98147-37DC-1EAA-1A4F-48A9F0A333FE}"/>
              </a:ext>
            </a:extLst>
          </p:cNvPr>
          <p:cNvSpPr/>
          <p:nvPr/>
        </p:nvSpPr>
        <p:spPr>
          <a:xfrm>
            <a:off x="15771590" y="6421393"/>
            <a:ext cx="1152189" cy="435140"/>
          </a:xfrm>
          <a:prstGeom prst="roundRect">
            <a:avLst/>
          </a:prstGeom>
          <a:solidFill>
            <a:srgbClr val="CCFF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96" dirty="0">
                <a:solidFill>
                  <a:schemeClr val="tx1">
                    <a:lumMod val="85000"/>
                    <a:lumOff val="15000"/>
                  </a:schemeClr>
                </a:solidFill>
                <a:latin typeface="system-ui"/>
              </a:rPr>
              <a:t>Low–Medium</a:t>
            </a:r>
            <a:endParaRPr lang="en-US" sz="1496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DAAEC5CD-EC58-B9F0-EAAD-2FAF4D646091}"/>
              </a:ext>
            </a:extLst>
          </p:cNvPr>
          <p:cNvSpPr/>
          <p:nvPr/>
        </p:nvSpPr>
        <p:spPr>
          <a:xfrm>
            <a:off x="15795192" y="4999434"/>
            <a:ext cx="1128587" cy="435140"/>
          </a:xfrm>
          <a:prstGeom prst="roundRect">
            <a:avLst/>
          </a:prstGeom>
          <a:solidFill>
            <a:srgbClr val="F28B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96" dirty="0">
                <a:solidFill>
                  <a:schemeClr val="tx1">
                    <a:lumMod val="85000"/>
                    <a:lumOff val="15000"/>
                  </a:schemeClr>
                </a:solidFill>
                <a:latin typeface="system-ui"/>
              </a:rPr>
              <a:t>Very High </a:t>
            </a:r>
            <a:endParaRPr lang="en-US" sz="1496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280210BD-DA9E-6CD1-099C-BDEA61B1F77B}"/>
              </a:ext>
            </a:extLst>
          </p:cNvPr>
          <p:cNvSpPr/>
          <p:nvPr/>
        </p:nvSpPr>
        <p:spPr>
          <a:xfrm>
            <a:off x="15771590" y="8298713"/>
            <a:ext cx="1152189" cy="435140"/>
          </a:xfrm>
          <a:prstGeom prst="roundRect">
            <a:avLst>
              <a:gd name="adj" fmla="val 19492"/>
            </a:avLst>
          </a:prstGeom>
          <a:solidFill>
            <a:srgbClr val="F28B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96" dirty="0">
                <a:solidFill>
                  <a:schemeClr val="tx1">
                    <a:lumMod val="85000"/>
                    <a:lumOff val="15000"/>
                  </a:schemeClr>
                </a:solidFill>
                <a:latin typeface="system-ui"/>
              </a:rPr>
              <a:t>Very High </a:t>
            </a:r>
            <a:endParaRPr lang="en-US" sz="1496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7C6D6E-34D8-46E0-8D0A-2345C1B53A4C}"/>
              </a:ext>
            </a:extLst>
          </p:cNvPr>
          <p:cNvSpPr txBox="1"/>
          <p:nvPr/>
        </p:nvSpPr>
        <p:spPr>
          <a:xfrm>
            <a:off x="13866267" y="370539"/>
            <a:ext cx="57235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797979"/>
                </a:solidFill>
              </a:rPr>
              <a:t>Total: 94 605 customers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39B032-5D7F-AE18-4D7C-C2484313430D}"/>
              </a:ext>
            </a:extLst>
          </p:cNvPr>
          <p:cNvSpPr txBox="1"/>
          <p:nvPr/>
        </p:nvSpPr>
        <p:spPr>
          <a:xfrm>
            <a:off x="8026164" y="11142631"/>
            <a:ext cx="9510442" cy="907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chemeClr val="bg2">
                    <a:lumMod val="25000"/>
                  </a:schemeClr>
                </a:solidFill>
              </a:rPr>
              <a:t>⚠️ </a:t>
            </a:r>
            <a:r>
              <a:rPr lang="en-US" sz="1500" b="1" dirty="0">
                <a:solidFill>
                  <a:schemeClr val="bg2">
                    <a:lumMod val="25000"/>
                  </a:schemeClr>
                </a:solidFill>
              </a:rPr>
              <a:t>Monitor and Control: </a:t>
            </a:r>
            <a:r>
              <a:rPr lang="ru-RU" sz="1500" b="1" dirty="0">
                <a:solidFill>
                  <a:schemeClr val="bg2">
                    <a:lumMod val="25000"/>
                  </a:schemeClr>
                </a:solidFill>
              </a:rPr>
              <a:t>    </a:t>
            </a:r>
            <a:r>
              <a:rPr lang="en-US" sz="1500" dirty="0">
                <a:solidFill>
                  <a:schemeClr val="bg2">
                    <a:lumMod val="25000"/>
                  </a:schemeClr>
                </a:solidFill>
              </a:rPr>
              <a:t>- Track reactivation cost vs. revenue recovered and monitor CLV changes by cohort </a:t>
            </a:r>
            <a:endParaRPr lang="ru-RU" sz="1500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ru-RU" sz="1500" dirty="0">
                <a:solidFill>
                  <a:schemeClr val="bg2">
                    <a:lumMod val="25000"/>
                  </a:schemeClr>
                </a:solidFill>
              </a:rPr>
              <a:t> 					</a:t>
            </a:r>
            <a:r>
              <a:rPr lang="en-US" sz="1500" dirty="0">
                <a:solidFill>
                  <a:schemeClr val="bg2">
                    <a:lumMod val="25000"/>
                  </a:schemeClr>
                </a:solidFill>
              </a:rPr>
              <a:t>- Define CAC/CPA limits and ensure campaigns remain cost-effective</a:t>
            </a:r>
            <a:endParaRPr lang="ru-RU" sz="1500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ru-RU" sz="1500" dirty="0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en-US" sz="15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B35CDF-7D6C-48E6-B732-D6CA119FDA5C}"/>
              </a:ext>
            </a:extLst>
          </p:cNvPr>
          <p:cNvSpPr txBox="1"/>
          <p:nvPr/>
        </p:nvSpPr>
        <p:spPr>
          <a:xfrm>
            <a:off x="15015182" y="44904"/>
            <a:ext cx="30802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Data: Jan 2023 – Aug 2024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D17CB2-A73F-A8CF-42F8-F559C450F2AC}"/>
              </a:ext>
            </a:extLst>
          </p:cNvPr>
          <p:cNvSpPr txBox="1"/>
          <p:nvPr/>
        </p:nvSpPr>
        <p:spPr>
          <a:xfrm>
            <a:off x="103772" y="11154139"/>
            <a:ext cx="730968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/>
              <a:t>ℹ️ Segmentation Method:</a:t>
            </a:r>
            <a:r>
              <a:rPr lang="en-US" sz="1500" dirty="0"/>
              <a:t> K-Means++ clustering, optimized via </a:t>
            </a:r>
            <a:r>
              <a:rPr lang="en-US" sz="1500" b="1" dirty="0"/>
              <a:t>Elbow</a:t>
            </a:r>
            <a:r>
              <a:rPr lang="en-US" sz="1500" dirty="0"/>
              <a:t> and </a:t>
            </a:r>
            <a:r>
              <a:rPr lang="en-US" sz="1500" b="1" dirty="0"/>
              <a:t>Silhouette</a:t>
            </a:r>
            <a:r>
              <a:rPr lang="en-US" sz="1500" dirty="0"/>
              <a:t> methods for ideal segment granularity, with a proven </a:t>
            </a:r>
            <a:r>
              <a:rPr lang="en-US" sz="1500" b="1" dirty="0"/>
              <a:t>96.7% model stability</a:t>
            </a:r>
            <a:r>
              <a:rPr lang="en-US" sz="1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49748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Тема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171</TotalTime>
  <Words>524</Words>
  <Application>Microsoft Office PowerPoint</Application>
  <PresentationFormat>Произвольный</PresentationFormat>
  <Paragraphs>77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Courier New</vt:lpstr>
      <vt:lpstr>system-ui</vt:lpstr>
      <vt:lpstr>Wingdings</vt:lpstr>
      <vt:lpstr>Тема Office</vt:lpstr>
      <vt:lpstr>RFM Segment Matrix:    Strategy for Targeted Re-engagement &amp; Churn Prevention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Elizaveta Gvozdina</dc:creator>
  <cp:lastModifiedBy>Elizaveta Gvozdina</cp:lastModifiedBy>
  <cp:revision>23</cp:revision>
  <dcterms:created xsi:type="dcterms:W3CDTF">2025-12-29T19:44:37Z</dcterms:created>
  <dcterms:modified xsi:type="dcterms:W3CDTF">2025-12-29T22:35:54Z</dcterms:modified>
</cp:coreProperties>
</file>